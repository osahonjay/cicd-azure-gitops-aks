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0075" y="450056"/>
            <a:ext cx="957263" cy="232172"/>
          </a:xfrm>
          <a:prstGeom prst="rect">
            <a:avLst/>
          </a:prstGeom>
          <a:solidFill>
            <a:srgbClr val="00F0FF">
              <a:alpha val="10000"/>
            </a:srgbClr>
          </a:solidFill>
          <a:ln w="9144">
            <a:solidFill>
              <a:srgbClr val="00F0FF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507206"/>
            <a:ext cx="114300" cy="1000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8675" y="492919"/>
            <a:ext cx="600075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2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GROUP 2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5965031" y="492919"/>
            <a:ext cx="257889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78D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CLOUDBOOSTA ACADEMY • AWS CLOUD DEVOPS</a:t>
            </a:r>
            <a:endParaRPr lang="en-US" sz="750" dirty="0"/>
          </a:p>
        </p:txBody>
      </p:sp>
      <p:sp>
        <p:nvSpPr>
          <p:cNvPr id="7" name="Text 3"/>
          <p:cNvSpPr/>
          <p:nvPr/>
        </p:nvSpPr>
        <p:spPr>
          <a:xfrm>
            <a:off x="850106" y="1677246"/>
            <a:ext cx="7693819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CI/CD Pipeline with</a:t>
            </a:r>
            <a:r>
              <a:rPr lang="en-US" sz="28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
</a:t>
            </a:r>
            <a:r>
              <a:rPr lang="en-US" sz="2850" b="1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Azure DevOps, GitOps &amp; AKS</a:t>
            </a:r>
            <a:endParaRPr lang="en-US" sz="2850" dirty="0"/>
          </a:p>
        </p:txBody>
      </p:sp>
      <p:sp>
        <p:nvSpPr>
          <p:cNvPr id="8" name="Text 4"/>
          <p:cNvSpPr/>
          <p:nvPr/>
        </p:nvSpPr>
        <p:spPr>
          <a:xfrm>
            <a:off x="850106" y="2714485"/>
            <a:ext cx="7693819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8A99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Automating Software Deployment with Cloud-Native Tools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8575" y="4159448"/>
            <a:ext cx="9086850" cy="9483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28575" y="4159448"/>
            <a:ext cx="9086850" cy="7144"/>
          </a:xfrm>
          <a:prstGeom prst="rect">
            <a:avLst/>
          </a:prstGeom>
          <a:solidFill>
            <a:srgbClr val="CCE4F6"/>
          </a:solidFill>
          <a:ln/>
        </p:spPr>
      </p:sp>
      <p:sp>
        <p:nvSpPr>
          <p:cNvPr id="11" name="Text 7"/>
          <p:cNvSpPr/>
          <p:nvPr/>
        </p:nvSpPr>
        <p:spPr>
          <a:xfrm>
            <a:off x="600075" y="4380905"/>
            <a:ext cx="500062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ENGINEERING TEAM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600075" y="4550569"/>
            <a:ext cx="5000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Wisdom Chiemela Uwaga • Bolarinwa Gbenga Akinde • Ayobami Edun • Osahon Igbogbo • Emmanuel Ohuoha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134820" y="4613077"/>
            <a:ext cx="140910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 2026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7249120" y="4780955"/>
            <a:ext cx="1294805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0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DEPLOYMENT STATUS: ACTIVE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0075" y="307181"/>
            <a:ext cx="209669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We Will Cover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47284" y="386655"/>
            <a:ext cx="169664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SYSTEM_OVERVIEW // AGENDA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00075" y="669727"/>
            <a:ext cx="442913" cy="217884"/>
          </a:xfrm>
          <a:prstGeom prst="rect">
            <a:avLst/>
          </a:prstGeom>
          <a:noFill/>
          <a:ln/>
        </p:spPr>
        <p:txBody>
          <a:bodyPr wrap="none" lIns="8509" tIns="68072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#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042988" y="669727"/>
            <a:ext cx="2300288" cy="217884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TOPIC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343275" y="669727"/>
            <a:ext cx="5200650" cy="217884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ctr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FOCUS &amp; DELIVERABLES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00075" y="887611"/>
            <a:ext cx="442913" cy="225028"/>
          </a:xfrm>
          <a:prstGeom prst="rect">
            <a:avLst/>
          </a:prstGeom>
          <a:noFill/>
          <a:ln/>
        </p:spPr>
        <p:txBody>
          <a:bodyPr wrap="non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042988" y="887611"/>
            <a:ext cx="2300288" cy="225028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Problem We Solved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43275" y="887611"/>
            <a:ext cx="5200650" cy="225028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deployments vs automated cloud pipelines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00075" y="1112639"/>
            <a:ext cx="442913" cy="221456"/>
          </a:xfrm>
          <a:prstGeom prst="rect">
            <a:avLst/>
          </a:prstGeom>
          <a:noFill/>
          <a:ln/>
        </p:spPr>
        <p:txBody>
          <a:bodyPr wrap="non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42988" y="1112639"/>
            <a:ext cx="2300288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Technologies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43275" y="1112639"/>
            <a:ext cx="5200650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stack explained in plain English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00075" y="1334095"/>
            <a:ext cx="442913" cy="221456"/>
          </a:xfrm>
          <a:prstGeom prst="rect">
            <a:avLst/>
          </a:prstGeom>
          <a:noFill/>
          <a:ln/>
        </p:spPr>
        <p:txBody>
          <a:bodyPr wrap="non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42988" y="1334095"/>
            <a:ext cx="2300288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43275" y="1334095"/>
            <a:ext cx="5200650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flow diagram of developer to cluster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00075" y="1555552"/>
            <a:ext cx="442913" cy="221456"/>
          </a:xfrm>
          <a:prstGeom prst="rect">
            <a:avLst/>
          </a:prstGeom>
          <a:noFill/>
          <a:ln/>
        </p:spPr>
        <p:txBody>
          <a:bodyPr wrap="non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42988" y="1555552"/>
            <a:ext cx="2300288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Step-by-Step Build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343275" y="1555552"/>
            <a:ext cx="5200650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Infrastructure, multi-language apps, pipelines, and GitOps setup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00075" y="1777008"/>
            <a:ext cx="442913" cy="221456"/>
          </a:xfrm>
          <a:prstGeom prst="rect">
            <a:avLst/>
          </a:prstGeom>
          <a:noFill/>
          <a:ln/>
        </p:spPr>
        <p:txBody>
          <a:bodyPr wrap="non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042988" y="1777008"/>
            <a:ext cx="2300288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Measures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343275" y="1777008"/>
            <a:ext cx="5200650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independent scan gates + Kubernetes cluster hardening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00075" y="1998464"/>
            <a:ext cx="442913" cy="221456"/>
          </a:xfrm>
          <a:prstGeom prst="rect">
            <a:avLst/>
          </a:prstGeom>
          <a:noFill/>
          <a:ln/>
        </p:spPr>
        <p:txBody>
          <a:bodyPr wrap="non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042988" y="1998464"/>
            <a:ext cx="2300288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Observability &amp; DR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343275" y="1998464"/>
            <a:ext cx="5200650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automated alerts, KQL telemetry queries, and the DR runbook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00075" y="2219920"/>
            <a:ext cx="442913" cy="221456"/>
          </a:xfrm>
          <a:prstGeom prst="rect">
            <a:avLst/>
          </a:prstGeom>
          <a:noFill/>
          <a:ln/>
        </p:spPr>
        <p:txBody>
          <a:bodyPr wrap="non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42988" y="2219920"/>
            <a:ext cx="2300288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Learnings &amp; Conclusion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343275" y="2219920"/>
            <a:ext cx="5200650" cy="221456"/>
          </a:xfrm>
          <a:prstGeom prst="rect">
            <a:avLst/>
          </a:prstGeom>
          <a:noFill/>
          <a:ln/>
        </p:spPr>
        <p:txBody>
          <a:bodyPr wrap="square" lIns="8509" tIns="68072" rIns="8509" bIns="8509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trade-offs, architecture decisions, and final outcomes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255567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Problem We Solved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936581" y="379512"/>
            <a:ext cx="17645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PROCESS_EVOLUTION // CI_CD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778669"/>
            <a:ext cx="150019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2931" y="762595"/>
            <a:ext cx="232529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5E62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BEFORE: MANUAL DEPLOYMENT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101923"/>
            <a:ext cx="62508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6858" y="1101923"/>
            <a:ext cx="38299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Developer writes code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manually builds the application on their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machine.</a:t>
            </a:r>
            <a:endParaRPr lang="en-US" sz="8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1501973"/>
            <a:ext cx="62508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76858" y="1501973"/>
            <a:ext cx="38299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Manual copying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files or containers directly to the target server via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FTP or SSH.</a:t>
            </a:r>
            <a:endParaRPr lang="en-US" sz="8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3" y="1902023"/>
            <a:ext cx="62508" cy="1143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576858" y="1902023"/>
            <a:ext cx="38299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"Hope nothing breaks"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strategy with no automated validation or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scanning.</a:t>
            </a:r>
            <a:endParaRPr lang="en-US" sz="8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3" y="2302073"/>
            <a:ext cx="62508" cy="1143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576858" y="2302073"/>
            <a:ext cx="38299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Reactive debugging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finding out something is broken only when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end-users complain.</a:t>
            </a:r>
            <a:endParaRPr lang="en-US" sz="8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3" y="2702123"/>
            <a:ext cx="62508" cy="1143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76858" y="2702123"/>
            <a:ext cx="382997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Zero audit trail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record of what configuration changed, when, or who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performed it.</a:t>
            </a:r>
            <a:endParaRPr lang="en-US" sz="8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171" y="778669"/>
            <a:ext cx="150019" cy="142875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887190" y="762595"/>
            <a:ext cx="215919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AFTER: AUTOMATED PIPELINE</a:t>
            </a:r>
            <a:endParaRPr lang="en-US" sz="10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7171" y="1101923"/>
            <a:ext cx="100013" cy="114300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4908621" y="1101923"/>
            <a:ext cx="379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Developer pushes code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GitHub, immediately triggering the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pipeline.</a:t>
            </a:r>
            <a:endParaRPr lang="en-US" sz="8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7171" y="1501973"/>
            <a:ext cx="100013" cy="114300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4908621" y="1501973"/>
            <a:ext cx="379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Automatic compilation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testing, and containerization in isolated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runners.</a:t>
            </a:r>
            <a:endParaRPr lang="en-US" sz="80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171" y="1902023"/>
            <a:ext cx="100013" cy="114300"/>
          </a:xfrm>
          <a:prstGeom prst="rect">
            <a:avLst/>
          </a:prstGeom>
        </p:spPr>
      </p:pic>
      <p:sp>
        <p:nvSpPr>
          <p:cNvPr id="24" name="Text 11"/>
          <p:cNvSpPr/>
          <p:nvPr/>
        </p:nvSpPr>
        <p:spPr>
          <a:xfrm>
            <a:off x="4908621" y="1902023"/>
            <a:ext cx="379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Multi-stage security gates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 static analysis and image vulnerability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scans before release.</a:t>
            </a:r>
            <a:endParaRPr lang="en-US" sz="800" dirty="0"/>
          </a:p>
        </p:txBody>
      </p:sp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7171" y="2302073"/>
            <a:ext cx="100013" cy="114300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4908621" y="2302073"/>
            <a:ext cx="379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GitOps reconciliation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continuously matches cluster state to Git, auto-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healing drifts.</a:t>
            </a:r>
            <a:endParaRPr lang="en-US" sz="800" dirty="0"/>
          </a:p>
        </p:txBody>
      </p:sp>
      <p:pic>
        <p:nvPicPr>
          <p:cNvPr id="2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7171" y="2702123"/>
            <a:ext cx="100013" cy="114300"/>
          </a:xfrm>
          <a:prstGeom prst="rect">
            <a:avLst/>
          </a:prstGeom>
        </p:spPr>
      </p:pic>
      <p:sp>
        <p:nvSpPr>
          <p:cNvPr id="28" name="Text 13"/>
          <p:cNvSpPr/>
          <p:nvPr/>
        </p:nvSpPr>
        <p:spPr>
          <a:xfrm>
            <a:off x="4908621" y="2702123"/>
            <a:ext cx="37924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Complete history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audit log of every change via Git commit </a:t>
            </a:r>
            <a:r>
              <a:rPr lang="en-US" sz="8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history.</a:t>
            </a:r>
            <a:endParaRPr lang="en-US" sz="800" dirty="0"/>
          </a:p>
        </p:txBody>
      </p:sp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913" y="3148608"/>
            <a:ext cx="128588" cy="114300"/>
          </a:xfrm>
          <a:prstGeom prst="rect">
            <a:avLst/>
          </a:prstGeom>
        </p:spPr>
      </p:pic>
      <p:sp>
        <p:nvSpPr>
          <p:cNvPr id="30" name="Text 14"/>
          <p:cNvSpPr/>
          <p:nvPr/>
        </p:nvSpPr>
        <p:spPr>
          <a:xfrm>
            <a:off x="642938" y="3130748"/>
            <a:ext cx="671869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shift from manual to automated is called CI/CD — Continuous Integration &amp; Continuous Delivery.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493275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Zero to Automated: What CI/CD Really Means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29388" y="379512"/>
            <a:ext cx="21717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CONCEPT_ANALOGY // ASSEMBLY_LINE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751880"/>
            <a:ext cx="144661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9011" y="734020"/>
            <a:ext cx="43684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Think of the software pipeline like a modern car factory assembly line: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442913" y="1112639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CI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442913" y="1473398"/>
            <a:ext cx="2477430" cy="9286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Continuous Integration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time a developer saves their work, an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quality check runs. Like a quality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 at the factory checking each part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it goes on the line.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42913" y="2509242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[TECHNICAL]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Automated tests, syntax checks, and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scans run on every single code commit to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integration issues.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3333285" y="1112639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CD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333285" y="1473398"/>
            <a:ext cx="2477430" cy="9286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Continuous Delivery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the quality checks pass, the new version is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packaged and ready to ship. Like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factory automatically boxing up the finished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product.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3333285" y="2509242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[TECHNICAL]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Code is compiled, packaged into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images, and prepared for deployment to the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staging or production environments.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6223657" y="1112639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GITOPS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223657" y="1473398"/>
            <a:ext cx="2477430" cy="92868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GitOps Control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"shipping instructions" live in GitHub. The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reads those instructions and makes sure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running always matches what GitHub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says.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223657" y="2509242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[TECHNICAL]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ArgoCD monitors Git manifests. If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someone changes cluster state manually, the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automatically corrects and reconciles it.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194667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Kubernetes &amp; AKS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072313" y="379512"/>
            <a:ext cx="162877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ORCHESTRATION // ANALOGY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823317"/>
            <a:ext cx="164306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7219" y="805458"/>
            <a:ext cx="4898827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"KUBERNETES IS LIKE A HOTEL MANAGER FOR APPLICATIONS"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42913" y="1278731"/>
            <a:ext cx="256003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CONCEPT_01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442913" y="1446609"/>
            <a:ext cx="256003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Rooms = Containers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42913" y="1735931"/>
            <a:ext cx="256003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application lives in its own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isolated container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like a hotel guest in their own room.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What happens inside one room does not affect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others, ensuring security and stability.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3291985" y="1278731"/>
            <a:ext cx="256003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CONCEPT_02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3291985" y="1446609"/>
            <a:ext cx="256003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Manager = Kubernetes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291985" y="1735931"/>
            <a:ext cx="256003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guest's room has a problem, the manager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finds them a new room automatically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more guests arrive, the manager opens more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rooms to handle the load (scaling).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141058" y="1278731"/>
            <a:ext cx="256003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CONCEPT_03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6141058" y="1446609"/>
            <a:ext cx="2560030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Azure AKS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141058" y="1735931"/>
            <a:ext cx="256003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manages the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hotel building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(the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physical servers and infrastructure).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We just tell it how many rooms we need and what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goes in them, leaving the operations to Azure.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2895005"/>
            <a:ext cx="100013" cy="1000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0075" y="2878931"/>
            <a:ext cx="582930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abstraction allows developers to focus on writing code instead of managing server hardware.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327005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Technology Stack at a Glance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343775" y="379512"/>
            <a:ext cx="13573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SYSTEM_SPEC // STACK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762595"/>
            <a:ext cx="1999692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TECHNOLOGY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2442604" y="762595"/>
            <a:ext cx="3129381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IT DOES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5571985" y="762595"/>
            <a:ext cx="3129102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WHY WE CHOSE IT</a:t>
            </a:r>
            <a:endParaRPr lang="en-US" sz="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56" y="1149055"/>
            <a:ext cx="114300" cy="10001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506" y="1134768"/>
            <a:ext cx="5464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AKS</a:t>
            </a:r>
            <a:endParaRPr lang="en-US" sz="700" dirty="0"/>
          </a:p>
        </p:txBody>
      </p:sp>
      <p:sp>
        <p:nvSpPr>
          <p:cNvPr id="10" name="Text 6"/>
          <p:cNvSpPr/>
          <p:nvPr/>
        </p:nvSpPr>
        <p:spPr>
          <a:xfrm>
            <a:off x="2442604" y="1052615"/>
            <a:ext cx="3129381" cy="293591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our applications on a managed Kubernetes cluster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5571985" y="1052615"/>
            <a:ext cx="3129102" cy="293591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by project brief; enterprise standard for orchestration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" y="1509061"/>
            <a:ext cx="114300" cy="10001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506" y="1494774"/>
            <a:ext cx="728663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DevOps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2442604" y="1346206"/>
            <a:ext cx="3129381" cy="43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Automates our CI/CD build and release pipelines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5571985" y="1346206"/>
            <a:ext cx="3129102" cy="43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by project brief; deep native integration with Azure services</a:t>
            </a:r>
            <a:endParaRPr lang="en-US" sz="7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" y="1869095"/>
            <a:ext cx="114300" cy="10001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1506" y="1854808"/>
            <a:ext cx="546497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ACR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2442604" y="1776226"/>
            <a:ext cx="3129381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registry for storing secure Docker container images</a:t>
            </a:r>
            <a:endParaRPr lang="en-US" sz="750" dirty="0"/>
          </a:p>
        </p:txBody>
      </p:sp>
      <p:sp>
        <p:nvSpPr>
          <p:cNvPr id="19" name="Text 13"/>
          <p:cNvSpPr/>
          <p:nvPr/>
        </p:nvSpPr>
        <p:spPr>
          <a:xfrm>
            <a:off x="5571985" y="1776226"/>
            <a:ext cx="3129102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Azure integration; secure, private, and highly performant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621506" y="2214814"/>
            <a:ext cx="3643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ArgoCD</a:t>
            </a:r>
            <a:endParaRPr lang="en-US" sz="700" dirty="0"/>
          </a:p>
        </p:txBody>
      </p:sp>
      <p:sp>
        <p:nvSpPr>
          <p:cNvPr id="21" name="Text 15"/>
          <p:cNvSpPr/>
          <p:nvPr/>
        </p:nvSpPr>
        <p:spPr>
          <a:xfrm>
            <a:off x="2442604" y="2066246"/>
            <a:ext cx="3129381" cy="43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Monitors GitHub and keeps cluster state synchronized</a:t>
            </a:r>
            <a:endParaRPr lang="en-US" sz="750" dirty="0"/>
          </a:p>
        </p:txBody>
      </p:sp>
      <p:sp>
        <p:nvSpPr>
          <p:cNvPr id="22" name="Text 16"/>
          <p:cNvSpPr/>
          <p:nvPr/>
        </p:nvSpPr>
        <p:spPr>
          <a:xfrm>
            <a:off x="5571985" y="2066246"/>
            <a:ext cx="3129102" cy="43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True GitOps pull model; self-healing capabilities; visual dashboard</a:t>
            </a:r>
            <a:endParaRPr lang="en-US" sz="7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56" y="2589135"/>
            <a:ext cx="114300" cy="10001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21506" y="2574847"/>
            <a:ext cx="910828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Key Vault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2442604" y="2496266"/>
            <a:ext cx="3129381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application secrets, passwords, and tokens securely</a:t>
            </a:r>
            <a:endParaRPr lang="en-US" sz="750" dirty="0"/>
          </a:p>
        </p:txBody>
      </p:sp>
      <p:sp>
        <p:nvSpPr>
          <p:cNvPr id="26" name="Text 19"/>
          <p:cNvSpPr/>
          <p:nvPr/>
        </p:nvSpPr>
        <p:spPr>
          <a:xfrm>
            <a:off x="5571985" y="2496266"/>
            <a:ext cx="3129102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Prevents hardcoded secrets in Git; RBAC-controlled and audited</a:t>
            </a:r>
            <a:endParaRPr lang="en-US" sz="7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56" y="2949141"/>
            <a:ext cx="114300" cy="10001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21506" y="2934853"/>
            <a:ext cx="364331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Docker</a:t>
            </a:r>
            <a:endParaRPr lang="en-US" sz="700" dirty="0"/>
          </a:p>
        </p:txBody>
      </p:sp>
      <p:sp>
        <p:nvSpPr>
          <p:cNvPr id="29" name="Text 21"/>
          <p:cNvSpPr/>
          <p:nvPr/>
        </p:nvSpPr>
        <p:spPr>
          <a:xfrm>
            <a:off x="2442604" y="2786286"/>
            <a:ext cx="3129381" cy="43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Packages microservices into portable, isolated containers</a:t>
            </a:r>
            <a:endParaRPr lang="en-US" sz="750" dirty="0"/>
          </a:p>
        </p:txBody>
      </p:sp>
      <p:sp>
        <p:nvSpPr>
          <p:cNvPr id="30" name="Text 22"/>
          <p:cNvSpPr/>
          <p:nvPr/>
        </p:nvSpPr>
        <p:spPr>
          <a:xfrm>
            <a:off x="5571985" y="2786286"/>
            <a:ext cx="3129102" cy="43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standard; ensures applications run identically everywhere</a:t>
            </a:r>
            <a:endParaRPr lang="en-US" sz="750" dirty="0"/>
          </a:p>
        </p:txBody>
      </p:sp>
      <p:sp>
        <p:nvSpPr>
          <p:cNvPr id="31" name="Text 23"/>
          <p:cNvSpPr/>
          <p:nvPr/>
        </p:nvSpPr>
        <p:spPr>
          <a:xfrm>
            <a:off x="621506" y="3294887"/>
            <a:ext cx="103227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Scanners</a:t>
            </a:r>
            <a:endParaRPr lang="en-US" sz="700" dirty="0"/>
          </a:p>
        </p:txBody>
      </p:sp>
      <p:sp>
        <p:nvSpPr>
          <p:cNvPr id="32" name="Text 24"/>
          <p:cNvSpPr/>
          <p:nvPr/>
        </p:nvSpPr>
        <p:spPr>
          <a:xfrm>
            <a:off x="2442604" y="3216306"/>
            <a:ext cx="3129381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Trivy, Checkov, and Gitleaks scan code, manifests, and images</a:t>
            </a:r>
            <a:endParaRPr lang="en-US" sz="750" dirty="0"/>
          </a:p>
        </p:txBody>
      </p:sp>
      <p:sp>
        <p:nvSpPr>
          <p:cNvPr id="33" name="Text 25"/>
          <p:cNvSpPr/>
          <p:nvPr/>
        </p:nvSpPr>
        <p:spPr>
          <a:xfrm>
            <a:off x="5571985" y="3216306"/>
            <a:ext cx="3129102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vulnerability and secret detection directly in pipeline</a:t>
            </a:r>
            <a:endParaRPr lang="en-US" sz="7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056" y="3599194"/>
            <a:ext cx="114300" cy="100013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1506" y="3584907"/>
            <a:ext cx="78938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Monitor</a:t>
            </a:r>
            <a:endParaRPr lang="en-US" sz="700" dirty="0"/>
          </a:p>
        </p:txBody>
      </p:sp>
      <p:sp>
        <p:nvSpPr>
          <p:cNvPr id="36" name="Text 27"/>
          <p:cNvSpPr/>
          <p:nvPr/>
        </p:nvSpPr>
        <p:spPr>
          <a:xfrm>
            <a:off x="2442604" y="3506326"/>
            <a:ext cx="3129381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Collects metrics, logs, and triggers automated alerts</a:t>
            </a:r>
            <a:endParaRPr lang="en-US" sz="750" dirty="0"/>
          </a:p>
        </p:txBody>
      </p:sp>
      <p:sp>
        <p:nvSpPr>
          <p:cNvPr id="37" name="Text 28"/>
          <p:cNvSpPr/>
          <p:nvPr/>
        </p:nvSpPr>
        <p:spPr>
          <a:xfrm>
            <a:off x="5571985" y="3506326"/>
            <a:ext cx="3129102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observability; supports powerful KQL queries for telemetry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539531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Architecture: How All the Pieces Connect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68716" y="379512"/>
            <a:ext cx="183237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SYSTEM_MAP // PIPELINE_FLOW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549" y="1117997"/>
            <a:ext cx="175022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4023" y="1398389"/>
            <a:ext cx="60007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1. GIT PUSH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42913" y="1601986"/>
            <a:ext cx="140232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pushes code changes to GitHub repository</a:t>
            </a:r>
            <a:endParaRPr lang="en-US" sz="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383" y="1397831"/>
            <a:ext cx="89297" cy="14287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7990" y="1117997"/>
            <a:ext cx="200025" cy="2000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496350" y="1398389"/>
            <a:ext cx="72330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 CI PIPELINE</a:t>
            </a:r>
            <a:endParaRPr lang="en-US" sz="800" dirty="0"/>
          </a:p>
        </p:txBody>
      </p:sp>
      <p:sp>
        <p:nvSpPr>
          <p:cNvPr id="11" name="Text 5"/>
          <p:cNvSpPr/>
          <p:nvPr/>
        </p:nvSpPr>
        <p:spPr>
          <a:xfrm>
            <a:off x="2156854" y="1601986"/>
            <a:ext cx="140232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DevOps triggers build, runs security scans (Trivy, Checkov)</a:t>
            </a:r>
            <a:endParaRPr lang="en-US" sz="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0325" y="1397831"/>
            <a:ext cx="89297" cy="142875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4433" y="1117997"/>
            <a:ext cx="175022" cy="200025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4249582" y="1398389"/>
            <a:ext cx="64472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 REGISTRY</a:t>
            </a:r>
            <a:endParaRPr lang="en-US" sz="800" dirty="0"/>
          </a:p>
        </p:txBody>
      </p:sp>
      <p:sp>
        <p:nvSpPr>
          <p:cNvPr id="15" name="Text 7"/>
          <p:cNvSpPr/>
          <p:nvPr/>
        </p:nvSpPr>
        <p:spPr>
          <a:xfrm>
            <a:off x="3870796" y="1601986"/>
            <a:ext cx="140232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Docker images pushed to Azure Container Registry (ACR)</a:t>
            </a:r>
            <a:endParaRPr lang="en-US" sz="6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84267" y="1397831"/>
            <a:ext cx="89297" cy="14287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876906" y="1398389"/>
            <a:ext cx="81795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4. GITOPS PULL</a:t>
            </a:r>
            <a:endParaRPr lang="en-US" sz="800" dirty="0"/>
          </a:p>
        </p:txBody>
      </p:sp>
      <p:sp>
        <p:nvSpPr>
          <p:cNvPr id="18" name="Text 9"/>
          <p:cNvSpPr/>
          <p:nvPr/>
        </p:nvSpPr>
        <p:spPr>
          <a:xfrm>
            <a:off x="5584738" y="1601986"/>
            <a:ext cx="140232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 detects manifest updates in Git and pulls changes</a:t>
            </a:r>
            <a:endParaRPr lang="en-US" sz="60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8209" y="1397831"/>
            <a:ext cx="89297" cy="142875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7314" y="1117997"/>
            <a:ext cx="225028" cy="200025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7576561" y="1398389"/>
            <a:ext cx="84653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5. AKS CLUSTER</a:t>
            </a:r>
            <a:endParaRPr lang="en-US" sz="800" dirty="0"/>
          </a:p>
        </p:txBody>
      </p:sp>
      <p:sp>
        <p:nvSpPr>
          <p:cNvPr id="22" name="Text 11"/>
          <p:cNvSpPr/>
          <p:nvPr/>
        </p:nvSpPr>
        <p:spPr>
          <a:xfrm>
            <a:off x="7298680" y="1601986"/>
            <a:ext cx="140232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deployed as stateless pods in isolated namespaces</a:t>
            </a:r>
            <a:endParaRPr lang="en-US" sz="600" dirty="0"/>
          </a:p>
        </p:txBody>
      </p:sp>
      <p:sp>
        <p:nvSpPr>
          <p:cNvPr id="23" name="Text 12"/>
          <p:cNvSpPr/>
          <p:nvPr/>
        </p:nvSpPr>
        <p:spPr>
          <a:xfrm>
            <a:off x="442913" y="2134865"/>
            <a:ext cx="3963916" cy="214313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SECURE PIPELINE CORE</a:t>
            </a:r>
            <a:endParaRPr lang="en-US" sz="900" dirty="0"/>
          </a:p>
        </p:txBody>
      </p:sp>
      <p:sp>
        <p:nvSpPr>
          <p:cNvPr id="24" name="Text 13"/>
          <p:cNvSpPr/>
          <p:nvPr/>
        </p:nvSpPr>
        <p:spPr>
          <a:xfrm>
            <a:off x="514350" y="2527771"/>
            <a:ext cx="3892479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Shift-Left Security: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Scanning occurs at the earliest stages. Code is scanned for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secrets (Gitleaks), manifests for misconfigurations (Checkov), and images for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CVEs (Trivy) before registry storage.</a:t>
            </a:r>
            <a:endParaRPr lang="en-US" sz="7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913" y="3049265"/>
            <a:ext cx="100013" cy="121444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614363" y="3049265"/>
            <a:ext cx="37924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Azure Key Vault Integration: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Secrets are dynamically fetched during pipeline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and pod runtime, completely eliminating hardcoded credentials in Git.</a:t>
            </a:r>
            <a:endParaRPr lang="en-US" sz="700" dirty="0"/>
          </a:p>
        </p:txBody>
      </p:sp>
      <p:sp>
        <p:nvSpPr>
          <p:cNvPr id="27" name="Text 15"/>
          <p:cNvSpPr/>
          <p:nvPr/>
        </p:nvSpPr>
        <p:spPr>
          <a:xfrm>
            <a:off x="4737171" y="2134865"/>
            <a:ext cx="3963916" cy="214313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GITOPS ENGINE</a:t>
            </a:r>
            <a:endParaRPr lang="en-US" sz="9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171" y="2527771"/>
            <a:ext cx="100013" cy="121444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4908621" y="2527771"/>
            <a:ext cx="37924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Continuous Reconciliation: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ArgoCD continuously compares the live state of the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AKS cluster with the desired state defined in the Git repository.</a:t>
            </a:r>
            <a:endParaRPr lang="en-US" sz="7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7171" y="2899246"/>
            <a:ext cx="112514" cy="121444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4921123" y="2899246"/>
            <a:ext cx="377996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Self-Healing Infrastructure: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any manual changes or drifts occur on the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cluster, ArgoCD automatically overwrites them to match the Git source of truth.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222349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Three Microservices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732984" y="379512"/>
            <a:ext cx="196810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APPLICATION_LAYER // AGNOSTIC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834033"/>
            <a:ext cx="144661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9011" y="734020"/>
            <a:ext cx="8042077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Three independent REST APIs — same function, three different programming languages. Proves the pipeline works for any language.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350169"/>
            <a:ext cx="132159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5072" y="1334095"/>
            <a:ext cx="1578769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306998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PYTHON APP (FLASK)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442913" y="1637705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5000</a:t>
            </a:r>
            <a:endParaRPr lang="en-US" sz="700" dirty="0"/>
          </a:p>
        </p:txBody>
      </p:sp>
      <p:sp>
        <p:nvSpPr>
          <p:cNvPr id="10" name="Text 5"/>
          <p:cNvSpPr/>
          <p:nvPr/>
        </p:nvSpPr>
        <p:spPr>
          <a:xfrm>
            <a:off x="442913" y="1884164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3.11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442913" y="2130623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Flask + Gunicorn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442913" y="2377083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ENDPOINTS: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/, /health, /api/data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2775347"/>
            <a:ext cx="100013" cy="1000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00075" y="2759273"/>
            <a:ext cx="109299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REPLICAS RUNNING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285" y="1350169"/>
            <a:ext cx="132159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465444" y="1334095"/>
            <a:ext cx="181451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339933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NODE.JS APP (EXPRESS)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3333285" y="1637705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3000</a:t>
            </a:r>
            <a:endParaRPr lang="en-US" sz="700" dirty="0"/>
          </a:p>
        </p:txBody>
      </p:sp>
      <p:sp>
        <p:nvSpPr>
          <p:cNvPr id="18" name="Text 11"/>
          <p:cNvSpPr/>
          <p:nvPr/>
        </p:nvSpPr>
        <p:spPr>
          <a:xfrm>
            <a:off x="3333285" y="1884164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JavaScript (Node 18)</a:t>
            </a:r>
            <a:endParaRPr lang="en-US" sz="700" dirty="0"/>
          </a:p>
        </p:txBody>
      </p:sp>
      <p:sp>
        <p:nvSpPr>
          <p:cNvPr id="19" name="Text 12"/>
          <p:cNvSpPr/>
          <p:nvPr/>
        </p:nvSpPr>
        <p:spPr>
          <a:xfrm>
            <a:off x="3333285" y="2130623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Express.js</a:t>
            </a:r>
            <a:endParaRPr lang="en-US" sz="700" dirty="0"/>
          </a:p>
        </p:txBody>
      </p:sp>
      <p:sp>
        <p:nvSpPr>
          <p:cNvPr id="20" name="Text 13"/>
          <p:cNvSpPr/>
          <p:nvPr/>
        </p:nvSpPr>
        <p:spPr>
          <a:xfrm>
            <a:off x="3333285" y="2377083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ENDPOINTS: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/, /health, /api/data</a:t>
            </a:r>
            <a:endParaRPr lang="en-US" sz="7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3285" y="2775347"/>
            <a:ext cx="100013" cy="10001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90447" y="2759273"/>
            <a:ext cx="109299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REPLICAS RUNNING</a:t>
            </a:r>
            <a:endParaRPr lang="en-US" sz="75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3657" y="1350169"/>
            <a:ext cx="185738" cy="14287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409395" y="1334095"/>
            <a:ext cx="145911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512BD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.NET APP (ASP.NET)</a:t>
            </a:r>
            <a:endParaRPr lang="en-US" sz="1000" dirty="0"/>
          </a:p>
        </p:txBody>
      </p:sp>
      <p:sp>
        <p:nvSpPr>
          <p:cNvPr id="25" name="Text 16"/>
          <p:cNvSpPr/>
          <p:nvPr/>
        </p:nvSpPr>
        <p:spPr>
          <a:xfrm>
            <a:off x="6223657" y="1637705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PORT: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8080</a:t>
            </a:r>
            <a:endParaRPr lang="en-US" sz="700" dirty="0"/>
          </a:p>
        </p:txBody>
      </p:sp>
      <p:sp>
        <p:nvSpPr>
          <p:cNvPr id="26" name="Text 17"/>
          <p:cNvSpPr/>
          <p:nvPr/>
        </p:nvSpPr>
        <p:spPr>
          <a:xfrm>
            <a:off x="6223657" y="1884164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C# (.NET 8.0)</a:t>
            </a:r>
            <a:endParaRPr lang="en-US" sz="700" dirty="0"/>
          </a:p>
        </p:txBody>
      </p:sp>
      <p:sp>
        <p:nvSpPr>
          <p:cNvPr id="27" name="Text 18"/>
          <p:cNvSpPr/>
          <p:nvPr/>
        </p:nvSpPr>
        <p:spPr>
          <a:xfrm>
            <a:off x="6223657" y="2130623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FRAMEWORK: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ASP.NET Core Minimal API</a:t>
            </a:r>
            <a:endParaRPr lang="en-US" sz="700" dirty="0"/>
          </a:p>
        </p:txBody>
      </p:sp>
      <p:sp>
        <p:nvSpPr>
          <p:cNvPr id="28" name="Text 19"/>
          <p:cNvSpPr/>
          <p:nvPr/>
        </p:nvSpPr>
        <p:spPr>
          <a:xfrm>
            <a:off x="6223657" y="2377083"/>
            <a:ext cx="247743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571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ENDPOINTS: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/, /health, /api/data</a:t>
            </a:r>
            <a:endParaRPr lang="en-US" sz="7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657" y="2775347"/>
            <a:ext cx="100013" cy="100013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6380820" y="2759273"/>
            <a:ext cx="1092994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REPLICAS RUNNING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4023717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 1: Setting Up the Infrastructure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004447" y="379512"/>
            <a:ext cx="169664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PROVISIONING // AZURE_CLI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734020"/>
            <a:ext cx="26253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415088" y="734020"/>
            <a:ext cx="2286000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AZURE CLI EXECUTION COMMAND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71488" y="1046559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900113" y="1046559"/>
            <a:ext cx="12072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Azure Authentication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900113" y="1221581"/>
            <a:ext cx="1207294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Authenticates the engineering team session to the active Azure subscription.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2193131" y="1046559"/>
            <a:ext cx="571500" cy="212527"/>
          </a:xfrm>
          <a:prstGeom prst="rect">
            <a:avLst/>
          </a:prstGeom>
          <a:solidFill>
            <a:srgbClr val="0078D4">
              <a:alpha val="8000"/>
            </a:srgbClr>
          </a:solidFill>
          <a:ln w="9144">
            <a:solidFill>
              <a:srgbClr val="00F0FF">
                <a:alpha val="15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93131" y="1046559"/>
            <a:ext cx="571500" cy="212527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login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4664869" y="1046559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093494" y="1046559"/>
            <a:ext cx="12072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Resource Group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5093494" y="1221581"/>
            <a:ext cx="1207294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'rg-gitops-project' in East US as the logical container for all assets.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6386513" y="1046559"/>
            <a:ext cx="2286000" cy="212527"/>
          </a:xfrm>
          <a:prstGeom prst="rect">
            <a:avLst/>
          </a:prstGeom>
          <a:solidFill>
            <a:srgbClr val="0078D4">
              <a:alpha val="8000"/>
            </a:srgbClr>
          </a:solidFill>
          <a:ln w="9144">
            <a:solidFill>
              <a:srgbClr val="00F0FF">
                <a:alpha val="1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6513" y="1046559"/>
            <a:ext cx="2286000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group create --name rg-gitops-project --location eastus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471488" y="1911623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900113" y="1911623"/>
            <a:ext cx="1207294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Container Registry (ACR)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900113" y="2233092"/>
            <a:ext cx="1207294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'acrgitopsproject' (Basic SKU) to serve as our private image warehouse.</a:t>
            </a:r>
            <a:endParaRPr lang="en-US" sz="650" dirty="0"/>
          </a:p>
        </p:txBody>
      </p:sp>
      <p:sp>
        <p:nvSpPr>
          <p:cNvPr id="20" name="Shape 17"/>
          <p:cNvSpPr/>
          <p:nvPr/>
        </p:nvSpPr>
        <p:spPr>
          <a:xfrm>
            <a:off x="2193131" y="1911623"/>
            <a:ext cx="2286000" cy="212527"/>
          </a:xfrm>
          <a:prstGeom prst="rect">
            <a:avLst/>
          </a:prstGeom>
          <a:solidFill>
            <a:srgbClr val="0078D4">
              <a:alpha val="8000"/>
            </a:srgbClr>
          </a:solidFill>
          <a:ln w="9144">
            <a:solidFill>
              <a:srgbClr val="00F0FF">
                <a:alpha val="1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193131" y="1911623"/>
            <a:ext cx="2286000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acr create --resource-group rg-gitops-project --name acrgitopsproject --sku Basic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664869" y="1911623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093494" y="1911623"/>
            <a:ext cx="12072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AKS Cluster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093494" y="2086645"/>
            <a:ext cx="1207294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Provisions a 3-node cluster (Standard_B2s), attaches ACR, and enables monitoring.</a:t>
            </a:r>
            <a:endParaRPr lang="en-US" sz="650" dirty="0"/>
          </a:p>
        </p:txBody>
      </p:sp>
      <p:sp>
        <p:nvSpPr>
          <p:cNvPr id="25" name="Shape 22"/>
          <p:cNvSpPr/>
          <p:nvPr/>
        </p:nvSpPr>
        <p:spPr>
          <a:xfrm>
            <a:off x="6386513" y="1911623"/>
            <a:ext cx="2286000" cy="212527"/>
          </a:xfrm>
          <a:prstGeom prst="rect">
            <a:avLst/>
          </a:prstGeom>
          <a:solidFill>
            <a:srgbClr val="0078D4">
              <a:alpha val="8000"/>
            </a:srgbClr>
          </a:solidFill>
          <a:ln w="9144">
            <a:solidFill>
              <a:srgbClr val="00F0FF">
                <a:alpha val="1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86513" y="1911623"/>
            <a:ext cx="2286000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aks create --resource-group rg-gitops-project --name aks-gitops-cluster --node-count 3 --node-vm-size Standard_B2s --attach-acr acrgitopsproject --enable-addons monitoring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71488" y="2802415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900113" y="2802415"/>
            <a:ext cx="12072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Kubectl Connection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900113" y="2977437"/>
            <a:ext cx="1207294" cy="36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Downloads cluster credentials to configure local kubectl context.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2193131" y="2802415"/>
            <a:ext cx="2286000" cy="212527"/>
          </a:xfrm>
          <a:prstGeom prst="rect">
            <a:avLst/>
          </a:prstGeom>
          <a:solidFill>
            <a:srgbClr val="0078D4">
              <a:alpha val="8000"/>
            </a:srgbClr>
          </a:solidFill>
          <a:ln w="9144">
            <a:solidFill>
              <a:srgbClr val="00F0FF">
                <a:alpha val="15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93131" y="2802415"/>
            <a:ext cx="2286000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aks get-credentials --resource-group rg-gitops-project --name aks-gitops-cluster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4664869" y="2802415"/>
            <a:ext cx="3429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5093494" y="2802415"/>
            <a:ext cx="1207294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Azure Key Vault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093494" y="2977437"/>
            <a:ext cx="1207294" cy="4828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Creates 'kv-gitops-project' to securely store ArgoCD credentials and GitHub tokens.</a:t>
            </a:r>
            <a:endParaRPr lang="en-US" sz="650" dirty="0"/>
          </a:p>
        </p:txBody>
      </p:sp>
      <p:sp>
        <p:nvSpPr>
          <p:cNvPr id="35" name="Shape 32"/>
          <p:cNvSpPr/>
          <p:nvPr/>
        </p:nvSpPr>
        <p:spPr>
          <a:xfrm>
            <a:off x="6386513" y="2802415"/>
            <a:ext cx="2286000" cy="212527"/>
          </a:xfrm>
          <a:prstGeom prst="rect">
            <a:avLst/>
          </a:prstGeom>
          <a:solidFill>
            <a:srgbClr val="0078D4">
              <a:alpha val="8000"/>
            </a:srgbClr>
          </a:solidFill>
          <a:ln w="9144">
            <a:solidFill>
              <a:srgbClr val="00F0FF">
                <a:alpha val="15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86513" y="2802415"/>
            <a:ext cx="2286000" cy="21252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 keyvault create --name kv-gitops-project --resource-group rg-gitops-project --location eastus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505063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 2: Installing ArgoCD — The GitOps Engine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936581" y="379512"/>
            <a:ext cx="17645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DEPLOYMENT_STEPS // GITOPS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805458"/>
            <a:ext cx="371617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WHAT IS ARGOCD?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42913" y="1094780"/>
            <a:ext cx="3716173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 acts as the intelligent bridge between our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GitHub repository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Kubernetes cluster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continuously monitors the deployment manifests in Git. When a change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detected, it automatically synchronizes the cluster state to match the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— eliminating manual intervention.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42913" y="2337792"/>
            <a:ext cx="371617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"This is called a GitOps pull model, where the cluster pulls its desired state from Git."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0" y="805458"/>
            <a:ext cx="41290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SETUP STEPS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0" y="1209080"/>
            <a:ext cx="285750" cy="27860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//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57750" y="1226939"/>
            <a:ext cx="7465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Install ArgoCD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604272" y="1226939"/>
            <a:ext cx="205204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into the cluster using official manifests (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656314" y="1216223"/>
            <a:ext cx="83581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kubectl apply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492133" y="1226939"/>
            <a:ext cx="696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0" y="1601986"/>
            <a:ext cx="274253" cy="27860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//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846253" y="1601986"/>
            <a:ext cx="385483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Expose the Web UI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securely using a LoadBalancer service to obtain a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IP.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572000" y="2037755"/>
            <a:ext cx="251287" cy="27860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//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823287" y="2037755"/>
            <a:ext cx="387780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Retrieve Admin Password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cluster secrets and store it securely in Azure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Vault.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0" y="2473523"/>
            <a:ext cx="263956" cy="27860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//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835956" y="2473523"/>
            <a:ext cx="3865132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Connect GitHub Repository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ArgoCD using SSH keys or personal access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572000" y="2909292"/>
            <a:ext cx="282094" cy="27860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//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854094" y="2909292"/>
            <a:ext cx="384699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Create ArgoCD Application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pointing to the manifests folder in our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repository.</a:t>
            </a:r>
            <a:endParaRPr lang="en-US" sz="7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3532584"/>
            <a:ext cx="100013" cy="10001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4363" y="3516511"/>
            <a:ext cx="692229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RESULT: ArgoCD is now actively watching GitHub. Any change to deployment files triggers an automatic cluster sync.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463629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 3: The CI Pipeline — Build, Scan, Push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665119" y="379512"/>
            <a:ext cx="203596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AUTOMATION_FLOW // BUILD_STAGE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814" y="898327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6474" y="1162645"/>
            <a:ext cx="5089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Code Push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858450" y="1325166"/>
            <a:ext cx="32504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TRIGGER</a:t>
            </a:r>
            <a:endParaRPr lang="en-US" sz="5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004" y="1016198"/>
            <a:ext cx="80367" cy="128588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5652" y="898327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235994" y="1162645"/>
            <a:ext cx="4107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Checkov</a:t>
            </a:r>
            <a:endParaRPr lang="en-US" sz="700" dirty="0"/>
          </a:p>
        </p:txBody>
      </p:sp>
      <p:sp>
        <p:nvSpPr>
          <p:cNvPr id="11" name="Text 5"/>
          <p:cNvSpPr/>
          <p:nvPr/>
        </p:nvSpPr>
        <p:spPr>
          <a:xfrm>
            <a:off x="2255639" y="1325166"/>
            <a:ext cx="3714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IAC SCAN</a:t>
            </a:r>
            <a:endParaRPr lang="en-US" sz="5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1410" y="1016198"/>
            <a:ext cx="80367" cy="128588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6058" y="898327"/>
            <a:ext cx="171450" cy="1714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3668009" y="1162645"/>
            <a:ext cx="38754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Gitleaks</a:t>
            </a:r>
            <a:endParaRPr lang="en-US" sz="700" dirty="0"/>
          </a:p>
        </p:txBody>
      </p:sp>
      <p:sp>
        <p:nvSpPr>
          <p:cNvPr id="15" name="Text 7"/>
          <p:cNvSpPr/>
          <p:nvPr/>
        </p:nvSpPr>
        <p:spPr>
          <a:xfrm>
            <a:off x="3606394" y="1325166"/>
            <a:ext cx="51077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SECRET SCAN</a:t>
            </a:r>
            <a:endParaRPr lang="en-US" sz="5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1816" y="1016198"/>
            <a:ext cx="80367" cy="128588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5749" y="898327"/>
            <a:ext cx="192881" cy="17145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4975901" y="1162645"/>
            <a:ext cx="61257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Build Images</a:t>
            </a:r>
            <a:endParaRPr lang="en-US" sz="700" dirty="0"/>
          </a:p>
        </p:txBody>
      </p:sp>
      <p:sp>
        <p:nvSpPr>
          <p:cNvPr id="19" name="Text 9"/>
          <p:cNvSpPr/>
          <p:nvPr/>
        </p:nvSpPr>
        <p:spPr>
          <a:xfrm>
            <a:off x="5096452" y="1325166"/>
            <a:ext cx="3714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PARALLEL</a:t>
            </a:r>
            <a:endParaRPr lang="en-US" sz="5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2223" y="1016198"/>
            <a:ext cx="80367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452564" y="1162645"/>
            <a:ext cx="5000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Trivy Scan</a:t>
            </a:r>
            <a:endParaRPr lang="en-US" sz="700" dirty="0"/>
          </a:p>
        </p:txBody>
      </p:sp>
      <p:sp>
        <p:nvSpPr>
          <p:cNvPr id="22" name="Text 11"/>
          <p:cNvSpPr/>
          <p:nvPr/>
        </p:nvSpPr>
        <p:spPr>
          <a:xfrm>
            <a:off x="6493641" y="1325166"/>
            <a:ext cx="41790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CVE CHECK</a:t>
            </a:r>
            <a:endParaRPr lang="en-US" sz="55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2629" y="1016198"/>
            <a:ext cx="80367" cy="128588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15846" y="898327"/>
            <a:ext cx="214313" cy="171450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7897081" y="1162645"/>
            <a:ext cx="45184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Push ACR</a:t>
            </a:r>
            <a:endParaRPr lang="en-US" sz="700" dirty="0"/>
          </a:p>
        </p:txBody>
      </p:sp>
      <p:sp>
        <p:nvSpPr>
          <p:cNvPr id="26" name="Text 13"/>
          <p:cNvSpPr/>
          <p:nvPr/>
        </p:nvSpPr>
        <p:spPr>
          <a:xfrm>
            <a:off x="7937264" y="1325166"/>
            <a:ext cx="37147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REGISTRY</a:t>
            </a:r>
            <a:endParaRPr lang="en-US" sz="550" dirty="0"/>
          </a:p>
        </p:txBody>
      </p:sp>
      <p:sp>
        <p:nvSpPr>
          <p:cNvPr id="27" name="Text 14"/>
          <p:cNvSpPr/>
          <p:nvPr/>
        </p:nvSpPr>
        <p:spPr>
          <a:xfrm>
            <a:off x="442913" y="1793081"/>
            <a:ext cx="3963916" cy="214313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BUILD &amp; COMPILATION</a:t>
            </a:r>
            <a:endParaRPr lang="en-US" sz="90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2913" y="2200275"/>
            <a:ext cx="96441" cy="107156"/>
          </a:xfrm>
          <a:prstGeom prst="rect">
            <a:avLst/>
          </a:prstGeom>
        </p:spPr>
      </p:pic>
      <p:sp>
        <p:nvSpPr>
          <p:cNvPr id="29" name="Text 15"/>
          <p:cNvSpPr/>
          <p:nvPr/>
        </p:nvSpPr>
        <p:spPr>
          <a:xfrm>
            <a:off x="610791" y="2200275"/>
            <a:ext cx="37960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Automated Trigger: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Developer pushes code to GitHub, immediately triggering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Azure DevOps CI pipeline.</a:t>
            </a:r>
            <a:endParaRPr lang="en-US" sz="700" dirty="0"/>
          </a:p>
        </p:txBody>
      </p:sp>
      <p:pic>
        <p:nvPicPr>
          <p:cNvPr id="3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913" y="2586038"/>
            <a:ext cx="96441" cy="107156"/>
          </a:xfrm>
          <a:prstGeom prst="rect">
            <a:avLst/>
          </a:prstGeom>
        </p:spPr>
      </p:pic>
      <p:sp>
        <p:nvSpPr>
          <p:cNvPr id="31" name="Text 16"/>
          <p:cNvSpPr/>
          <p:nvPr/>
        </p:nvSpPr>
        <p:spPr>
          <a:xfrm>
            <a:off x="610791" y="2586038"/>
            <a:ext cx="37960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Parallel Image Builds: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Python (Flask), Node.js (Express), and .NET (ASP.NET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Core) Docker images are compiled simultaneously to minimize pipeline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time.</a:t>
            </a:r>
            <a:endParaRPr lang="en-US" sz="700" dirty="0"/>
          </a:p>
        </p:txBody>
      </p:sp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2913" y="3121819"/>
            <a:ext cx="96441" cy="107156"/>
          </a:xfrm>
          <a:prstGeom prst="rect">
            <a:avLst/>
          </a:prstGeom>
        </p:spPr>
      </p:pic>
      <p:sp>
        <p:nvSpPr>
          <p:cNvPr id="33" name="Text 17"/>
          <p:cNvSpPr/>
          <p:nvPr/>
        </p:nvSpPr>
        <p:spPr>
          <a:xfrm>
            <a:off x="610791" y="3136106"/>
            <a:ext cx="109299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Deterministic Tagging:</a:t>
            </a:r>
            <a:endParaRPr lang="en-US" sz="700" dirty="0"/>
          </a:p>
        </p:txBody>
      </p:sp>
      <p:sp>
        <p:nvSpPr>
          <p:cNvPr id="34" name="Text 18"/>
          <p:cNvSpPr/>
          <p:nvPr/>
        </p:nvSpPr>
        <p:spPr>
          <a:xfrm>
            <a:off x="1703784" y="3136106"/>
            <a:ext cx="254317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image is tagged with the unique Azure DevOps</a:t>
            </a:r>
            <a:endParaRPr lang="en-US" sz="750" dirty="0"/>
          </a:p>
        </p:txBody>
      </p:sp>
      <p:sp>
        <p:nvSpPr>
          <p:cNvPr id="35" name="Text 19"/>
          <p:cNvSpPr/>
          <p:nvPr/>
        </p:nvSpPr>
        <p:spPr>
          <a:xfrm>
            <a:off x="610791" y="3287911"/>
            <a:ext cx="176272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ID instead of using the mutable</a:t>
            </a:r>
            <a:endParaRPr lang="en-US" sz="750" dirty="0"/>
          </a:p>
        </p:txBody>
      </p:sp>
      <p:sp>
        <p:nvSpPr>
          <p:cNvPr id="36" name="Text 20"/>
          <p:cNvSpPr/>
          <p:nvPr/>
        </p:nvSpPr>
        <p:spPr>
          <a:xfrm>
            <a:off x="2373511" y="3278981"/>
            <a:ext cx="4200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:latest</a:t>
            </a:r>
            <a:endParaRPr lang="en-US" sz="750" dirty="0"/>
          </a:p>
        </p:txBody>
      </p:sp>
      <p:sp>
        <p:nvSpPr>
          <p:cNvPr id="37" name="Text 21"/>
          <p:cNvSpPr/>
          <p:nvPr/>
        </p:nvSpPr>
        <p:spPr>
          <a:xfrm>
            <a:off x="2793569" y="3287911"/>
            <a:ext cx="108049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tag, ensuring absolute</a:t>
            </a:r>
            <a:endParaRPr lang="en-US" sz="750" dirty="0"/>
          </a:p>
        </p:txBody>
      </p:sp>
      <p:sp>
        <p:nvSpPr>
          <p:cNvPr id="38" name="Text 22"/>
          <p:cNvSpPr/>
          <p:nvPr/>
        </p:nvSpPr>
        <p:spPr>
          <a:xfrm>
            <a:off x="610791" y="3437930"/>
            <a:ext cx="54828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traceability.</a:t>
            </a:r>
            <a:endParaRPr lang="en-US" sz="750" dirty="0"/>
          </a:p>
        </p:txBody>
      </p:sp>
      <p:sp>
        <p:nvSpPr>
          <p:cNvPr id="39" name="Text 23"/>
          <p:cNvSpPr/>
          <p:nvPr/>
        </p:nvSpPr>
        <p:spPr>
          <a:xfrm>
            <a:off x="4737171" y="1793081"/>
            <a:ext cx="3963916" cy="214313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INTEGRATED SECURITY GATES</a:t>
            </a:r>
            <a:endParaRPr lang="en-US" sz="900" dirty="0"/>
          </a:p>
        </p:txBody>
      </p:sp>
      <p:sp>
        <p:nvSpPr>
          <p:cNvPr id="40" name="Text 24"/>
          <p:cNvSpPr/>
          <p:nvPr/>
        </p:nvSpPr>
        <p:spPr>
          <a:xfrm>
            <a:off x="4808609" y="2200275"/>
            <a:ext cx="389247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Checkov IaC Scan: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Analyzes Kubernetes YAML manifests for security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misconfigurations before any build starts.</a:t>
            </a:r>
            <a:endParaRPr lang="en-US" sz="700" dirty="0"/>
          </a:p>
        </p:txBody>
      </p:sp>
      <p:sp>
        <p:nvSpPr>
          <p:cNvPr id="41" name="Text 25"/>
          <p:cNvSpPr/>
          <p:nvPr/>
        </p:nvSpPr>
        <p:spPr>
          <a:xfrm>
            <a:off x="4808609" y="2586038"/>
            <a:ext cx="389247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Gitleaks Secret Scan: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Scans the entire commit history for hardcoded API keys,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passwords, or certificates.</a:t>
            </a:r>
            <a:endParaRPr lang="en-US" sz="700" dirty="0"/>
          </a:p>
        </p:txBody>
      </p:sp>
      <p:sp>
        <p:nvSpPr>
          <p:cNvPr id="42" name="Text 26"/>
          <p:cNvSpPr/>
          <p:nvPr/>
        </p:nvSpPr>
        <p:spPr>
          <a:xfrm>
            <a:off x="4808609" y="2971800"/>
            <a:ext cx="389247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Trivy Container Scan: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Scans the compiled Docker images for known CVEs. The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</a:t>
            </a: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blocks and fails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any CRITICAL or HIGH vulnerabilities are detected.</a:t>
            </a:r>
            <a:endParaRPr lang="en-US" sz="700" dirty="0"/>
          </a:p>
        </p:txBody>
      </p:sp>
      <p:pic>
        <p:nvPicPr>
          <p:cNvPr id="4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2913" y="3875484"/>
            <a:ext cx="100013" cy="100013"/>
          </a:xfrm>
          <a:prstGeom prst="rect">
            <a:avLst/>
          </a:prstGeom>
        </p:spPr>
      </p:pic>
      <p:sp>
        <p:nvSpPr>
          <p:cNvPr id="44" name="Text 27"/>
          <p:cNvSpPr/>
          <p:nvPr/>
        </p:nvSpPr>
        <p:spPr>
          <a:xfrm>
            <a:off x="600075" y="3859411"/>
            <a:ext cx="455414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vulnerable image NEVER reaches the registry. The pipeline stops it first.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5548908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Step 4: The CD Pipeline — Deploying to the Cluster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97253" y="379512"/>
            <a:ext cx="210383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AUTOMATION_FLOW // DEPLOY_STAGE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876895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FETCH SECRETS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42913" y="1237655"/>
            <a:ext cx="247743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Secure Token Retrieval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dynamically fetches the ArgoCD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password and GitHub personal access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from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Azure Key Vault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42913" y="2102048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[SECURITY]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Secrets are injected as environment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variables in memory. They never appear in source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code, configuration files, or pipeline logs.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333285" y="876895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UPDATE MANIFESTS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33285" y="1237655"/>
            <a:ext cx="247743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Git Manifest Update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pipeline automatically updates the image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 in the Kubernetes deployment files from the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old build ID to the newly compiled build ID.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33285" y="2102048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[GITOPS]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change is committed back to the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repository, establishing Git as the single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of truth for cluster state.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223657" y="876895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TRIGGER &amp; WAIT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23657" y="1237655"/>
            <a:ext cx="247743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ArgoCD Sync &amp; Health Check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 detects the Git commit, pulls the new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manifests, and applies them. The pipeline waits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to 3 minutes for the pods to report healthy.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23657" y="2102048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[RECONCILE]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pipeline only reports </a:t>
            </a: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SUCCESS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when all replicas are running, healthy, and serving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traffic.</a:t>
            </a:r>
            <a:endParaRPr lang="en-US" sz="7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970014"/>
            <a:ext cx="100013" cy="1000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0075" y="2952155"/>
            <a:ext cx="685657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 journey: code push → scan → build → scan → push → update Git → sync cluster → healthy pods. Fully automated.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4688086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Security: A Defense-in-Depth Architecture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140178" y="379512"/>
            <a:ext cx="156090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HARDENING // ZERO_TRUST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862608"/>
            <a:ext cx="1743075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CONTAINER HARDENING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1201936"/>
            <a:ext cx="100013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650" y="1201936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Non-Root Execution: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Containers run as UID 1001, completely preventing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root-level OS access if compromised.</a:t>
            </a:r>
            <a:endParaRPr lang="en-US" sz="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637705"/>
            <a:ext cx="100013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8650" y="1637705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Read-Only Filesystem: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Root filesystem is mounted as read-only,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preventing runtime code injection or modification.</a:t>
            </a:r>
            <a:endParaRPr lang="en-US" sz="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2073473"/>
            <a:ext cx="100013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8650" y="2073473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Privilege Escalation: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Explicitly blocked in security context, preventing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processes from gaining elevated permissions.</a:t>
            </a:r>
            <a:endParaRPr lang="en-US" sz="7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3" y="2509242"/>
            <a:ext cx="100013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28650" y="2509242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Linux Capabilities Dropped: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All default kernel capabilities are dropped,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leaving only the bare minimum required.</a:t>
            </a:r>
            <a:endParaRPr lang="en-US" sz="7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3" y="2945011"/>
            <a:ext cx="100013" cy="12858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28650" y="2945011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Seccomp Profiles: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profiles block 45+ dangerous system calls at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Linux kernel level.</a:t>
            </a:r>
            <a:endParaRPr lang="en-US" sz="7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7171" y="878681"/>
            <a:ext cx="167878" cy="14287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4905049" y="862608"/>
            <a:ext cx="186809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KUBERNETES HARDENING</a:t>
            </a:r>
            <a:endParaRPr lang="en-US" sz="10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7171" y="1201936"/>
            <a:ext cx="100013" cy="12858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922909" y="1201936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Dedicated ServiceAccounts: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microservice runs with its own scoped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with zero access to the Kubernetes API.</a:t>
            </a:r>
            <a:endParaRPr lang="en-US" sz="7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7171" y="1637705"/>
            <a:ext cx="100013" cy="12858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4922909" y="1637705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Default-Deny NetworkPolicy: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Pods are completely isolated by default.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Communication must be explicitly whitelisted.</a:t>
            </a:r>
            <a:endParaRPr lang="en-US" sz="75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7171" y="2073473"/>
            <a:ext cx="100013" cy="12858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4922909" y="2073473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Azure Key Vault Integration: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Secrets are injected dynamically at runtime,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keeping them out of Git and etcd.</a:t>
            </a:r>
            <a:endParaRPr lang="en-US" sz="75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7171" y="2509242"/>
            <a:ext cx="100013" cy="128588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4922909" y="2509242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Resource Quotas: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CPU and Memory limits are strictly enforced per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namespace to prevent resource exhaustion.</a:t>
            </a:r>
            <a:endParaRPr lang="en-US" sz="75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7171" y="2945011"/>
            <a:ext cx="100013" cy="128588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4922909" y="2945011"/>
            <a:ext cx="377817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ArgoCD AppProject Scoping: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Sync permissions are strictly restricted to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microservices namespace.</a:t>
            </a:r>
            <a:endParaRPr lang="en-US" sz="75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2913" y="3568303"/>
            <a:ext cx="87511" cy="100013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587573" y="3552230"/>
            <a:ext cx="686157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is not a single gate, but a multi-layered defense system protecting both runtime and build environments.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392549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Pipeline Security Gates — Shift Left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936581" y="379512"/>
            <a:ext cx="17645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SECURE_DEVOP // SHIFT_LEFT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912614"/>
            <a:ext cx="113585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GATE 1: CHECKOV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557588" y="938510"/>
            <a:ext cx="72509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IAC_SCAN // 01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442913" y="1169789"/>
            <a:ext cx="383976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Scans: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Kubernetes YAML manifests and infrastructure-as-code files.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Purpose: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Detects insecure configurations, such as running containers as root,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resource limits, or overly permissive capabilities.</a:t>
            </a:r>
            <a:endParaRPr lang="en-US" sz="7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1704677"/>
            <a:ext cx="85725" cy="857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" y="1691283"/>
            <a:ext cx="233064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BLOCKS ON: Any high-severity misconfiguration</a:t>
            </a:r>
            <a:endParaRPr lang="en-US" sz="600" dirty="0"/>
          </a:p>
        </p:txBody>
      </p:sp>
      <p:sp>
        <p:nvSpPr>
          <p:cNvPr id="10" name="Text 6"/>
          <p:cNvSpPr/>
          <p:nvPr/>
        </p:nvSpPr>
        <p:spPr>
          <a:xfrm>
            <a:off x="4861322" y="912614"/>
            <a:ext cx="117336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GATE 2: GITLEAKS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7820620" y="938510"/>
            <a:ext cx="88046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SECRET_SCAN // 02</a:t>
            </a:r>
            <a:endParaRPr lang="en-US" sz="600" dirty="0"/>
          </a:p>
        </p:txBody>
      </p:sp>
      <p:sp>
        <p:nvSpPr>
          <p:cNvPr id="12" name="Text 8"/>
          <p:cNvSpPr/>
          <p:nvPr/>
        </p:nvSpPr>
        <p:spPr>
          <a:xfrm>
            <a:off x="4861322" y="1169789"/>
            <a:ext cx="383976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Scans: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git commit history and source code files.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Purpose: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Detects hardcoded secrets, API keys, private certificates, or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 before they are committed to the repository history.</a:t>
            </a:r>
            <a:endParaRPr lang="en-US" sz="7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322" y="1704677"/>
            <a:ext cx="85725" cy="857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89909" y="1691283"/>
            <a:ext cx="233064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BLOCKS ON: Any detected plain-text credential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442913" y="2125266"/>
            <a:ext cx="138767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GATE 3: TRIVY IMAGE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246834" y="2151162"/>
            <a:ext cx="1035844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CONTAINER_SCAN // 03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442913" y="2382441"/>
            <a:ext cx="383976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Scans: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Compiled Docker container images and base OS layers.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Purpose: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Identifies known Common Vulnerabilities and Exposures (CVEs) in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dependencies and system libraries.</a:t>
            </a:r>
            <a:endParaRPr lang="en-US" sz="7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2917329"/>
            <a:ext cx="85725" cy="8572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1500" y="2903934"/>
            <a:ext cx="2123480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BLOCKS ON: CRITICAL or HIGH severity CVEs</a:t>
            </a:r>
            <a:endParaRPr lang="en-US" sz="600" dirty="0"/>
          </a:p>
        </p:txBody>
      </p:sp>
      <p:sp>
        <p:nvSpPr>
          <p:cNvPr id="20" name="Text 14"/>
          <p:cNvSpPr/>
          <p:nvPr/>
        </p:nvSpPr>
        <p:spPr>
          <a:xfrm>
            <a:off x="4861322" y="2125266"/>
            <a:ext cx="163056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GATE 4: TRIVY MANIFEST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7717036" y="2151162"/>
            <a:ext cx="98405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MANIFEST_SCAN // 04</a:t>
            </a:r>
            <a:endParaRPr lang="en-US" sz="600" dirty="0"/>
          </a:p>
        </p:txBody>
      </p:sp>
      <p:sp>
        <p:nvSpPr>
          <p:cNvPr id="22" name="Text 16"/>
          <p:cNvSpPr/>
          <p:nvPr/>
        </p:nvSpPr>
        <p:spPr>
          <a:xfrm>
            <a:off x="4861322" y="2382441"/>
            <a:ext cx="383976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Scans: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Rendered Kubernetes deployment manifests.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00" b="1" dirty="0">
                <a:solidFill>
                  <a:srgbClr val="E2E8F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Purpose: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Cross-validates deployment configurations against Kubernetes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standards to ensure runtime isolation.</a:t>
            </a:r>
            <a:endParaRPr lang="en-US" sz="7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1322" y="2917329"/>
            <a:ext cx="85725" cy="857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989909" y="2903934"/>
            <a:ext cx="2589609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BLOCKS ON: Any non-compliant runtime configuration</a:t>
            </a:r>
            <a:endParaRPr lang="en-US" sz="600" dirty="0"/>
          </a:p>
        </p:txBody>
      </p:sp>
      <p:sp>
        <p:nvSpPr>
          <p:cNvPr id="25" name="Text 18"/>
          <p:cNvSpPr/>
          <p:nvPr/>
        </p:nvSpPr>
        <p:spPr>
          <a:xfrm>
            <a:off x="500063" y="3302198"/>
            <a:ext cx="558641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Security is enforced at four independent points. A single failure stops the entire pipeline.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4818459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Network Security: Zero-Trust Between Pods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140178" y="379512"/>
            <a:ext cx="156090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HARDENING // ZERO_TRUST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805458"/>
            <a:ext cx="3716173" cy="232172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DEFAULT-DENY POLICY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28638" y="1251942"/>
            <a:ext cx="363044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default,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 pod can communicate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any other pod in the cluster.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must be explicitly permitted via NetworkPolicy rules.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28638" y="1680567"/>
            <a:ext cx="363044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limits the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blast radius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if any single microservice is compromised,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preventing lateral movement across the cluster.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42913" y="2002036"/>
            <a:ext cx="3716173" cy="410766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SERVICE ACCOUNT HARDENING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627114"/>
            <a:ext cx="87511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6148" y="2627114"/>
            <a:ext cx="3542937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microservice runs with a </a:t>
            </a: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dedicated ServiceAccount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has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cluster API permissions.</a:t>
            </a:r>
            <a:endParaRPr lang="en-US" sz="8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3055739"/>
            <a:ext cx="87511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6148" y="3055739"/>
            <a:ext cx="3542937" cy="482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disable the automatic mounting of the API token, ensuring a compromised pod cannot enumerate cluster resources or create new pods.</a:t>
            </a:r>
            <a:endParaRPr lang="en-US" sz="800" dirty="0"/>
          </a:p>
        </p:txBody>
      </p:sp>
      <p:sp>
        <p:nvSpPr>
          <p:cNvPr id="13" name="Text 8"/>
          <p:cNvSpPr/>
          <p:nvPr/>
        </p:nvSpPr>
        <p:spPr>
          <a:xfrm>
            <a:off x="4572000" y="805458"/>
            <a:ext cx="4129088" cy="232172"/>
          </a:xfrm>
          <a:prstGeom prst="rect">
            <a:avLst/>
          </a:prstGeom>
          <a:noFill/>
          <a:ln/>
        </p:spPr>
        <p:txBody>
          <a:bodyPr wrap="square" lIns="0" tIns="42545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POLICY IN ACTION (YAML)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0" y="1216223"/>
            <a:ext cx="4129088" cy="1535906"/>
          </a:xfrm>
          <a:prstGeom prst="rect">
            <a:avLst/>
          </a:prstGeom>
          <a:solidFill>
            <a:srgbClr val="0078D4">
              <a:alpha val="10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572000" y="1216223"/>
            <a:ext cx="4129088" cy="153590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Default deny all ingress &amp; egress traffic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apiVersion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networking.k8s.io/v1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kind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NetworkPolicy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default-deny-all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namespace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microservices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spec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podSelector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{} </a:t>
            </a:r>
            <a:r>
              <a:rPr lang="en-US" sz="60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Selects all pods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policyTypes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Ingress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 Egress</a:t>
            </a:r>
            <a:endParaRPr lang="en-US" sz="600" dirty="0"/>
          </a:p>
        </p:txBody>
      </p:sp>
      <p:sp>
        <p:nvSpPr>
          <p:cNvPr id="16" name="Shape 11"/>
          <p:cNvSpPr/>
          <p:nvPr/>
        </p:nvSpPr>
        <p:spPr>
          <a:xfrm>
            <a:off x="4572000" y="2880717"/>
            <a:ext cx="4129088" cy="1021556"/>
          </a:xfrm>
          <a:prstGeom prst="rect">
            <a:avLst/>
          </a:prstGeom>
          <a:solidFill>
            <a:srgbClr val="0078D4">
              <a:alpha val="10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72000" y="2880717"/>
            <a:ext cx="4129088" cy="1021556"/>
          </a:xfrm>
          <a:prstGeom prst="rect">
            <a:avLst/>
          </a:prstGeom>
          <a:noFill/>
          <a:ln/>
        </p:spPr>
        <p:txBody>
          <a:bodyPr wrap="square" lIns="170053" tIns="127508" rIns="170053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Disable API token automounting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apiVersion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v1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kind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ServiceAccount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metadata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app-service-account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namespace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microservices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60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automountServiceAccountToken</a:t>
            </a:r>
            <a:r>
              <a:rPr lang="en-US" sz="60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60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5679281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Monitoring &amp; Observability: 6 Alerts + 9 KQL Queries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936581" y="379512"/>
            <a:ext cx="17645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TELEMETRY // AZURE_MONITOR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805458"/>
            <a:ext cx="3963916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6 AUTOMATED ALERTS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1166217"/>
            <a:ext cx="75009" cy="107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9359" y="1166217"/>
            <a:ext cx="38174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CPU/Memory Exhaustion: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Triggers if any node exceeds 85% utilization for more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 5 minutes.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1531944"/>
            <a:ext cx="75009" cy="1071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9359" y="1531944"/>
            <a:ext cx="38174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Pod CrashLoopBackOff: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Fires immediately if any pod fails to start and enters a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restart loop.</a:t>
            </a:r>
            <a:endParaRPr lang="en-US" sz="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3" y="1897670"/>
            <a:ext cx="75009" cy="1071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9359" y="1897670"/>
            <a:ext cx="38174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ArgoCD Sync Failure: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Alerts the engineering team if Git and cluster state cannot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reconcile.</a:t>
            </a:r>
            <a:endParaRPr lang="en-US" sz="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913" y="2263397"/>
            <a:ext cx="75009" cy="10715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89359" y="2263397"/>
            <a:ext cx="35825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API Error Spikes: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Triggers if HTTP 5xx error rates exceed 1% of total traffic.</a:t>
            </a:r>
            <a:endParaRPr lang="en-US" sz="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3" y="2489122"/>
            <a:ext cx="75009" cy="10715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89359" y="2489122"/>
            <a:ext cx="38174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Ingress Controller Down: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Alerts if the NGINX ingress controller stops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responding to health checks.</a:t>
            </a:r>
            <a:endParaRPr lang="en-US" sz="7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3" y="2854849"/>
            <a:ext cx="75009" cy="10715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89359" y="2854849"/>
            <a:ext cx="3817469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Key Vault Access Denied: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Fires if unauthorized attempts are made to fetch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cluster secrets.</a:t>
            </a:r>
            <a:endParaRPr lang="en-US" sz="700" dirty="0"/>
          </a:p>
        </p:txBody>
      </p:sp>
      <p:sp>
        <p:nvSpPr>
          <p:cNvPr id="18" name="Text 9"/>
          <p:cNvSpPr/>
          <p:nvPr/>
        </p:nvSpPr>
        <p:spPr>
          <a:xfrm>
            <a:off x="4737171" y="805458"/>
            <a:ext cx="3963916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LOG ANALYTICS (KQL)</a:t>
            </a:r>
            <a:endParaRPr lang="en-US" sz="1000" dirty="0"/>
          </a:p>
        </p:txBody>
      </p:sp>
      <p:sp>
        <p:nvSpPr>
          <p:cNvPr id="19" name="Shape 10"/>
          <p:cNvSpPr/>
          <p:nvPr/>
        </p:nvSpPr>
        <p:spPr>
          <a:xfrm>
            <a:off x="4737171" y="1201936"/>
            <a:ext cx="3963916" cy="650025"/>
          </a:xfrm>
          <a:prstGeom prst="rect">
            <a:avLst/>
          </a:prstGeom>
          <a:solidFill>
            <a:srgbClr val="0078D4">
              <a:alpha val="10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20" name="Text 11"/>
          <p:cNvSpPr/>
          <p:nvPr/>
        </p:nvSpPr>
        <p:spPr>
          <a:xfrm>
            <a:off x="4737171" y="1201936"/>
            <a:ext cx="3963916" cy="650025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 1: Find Pods in CrashLoopBackOff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KubePodInventory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PodStatus == </a:t>
            </a:r>
            <a:r>
              <a:rPr lang="en-US" sz="5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"Failed"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or ContainerStatus == </a:t>
            </a:r>
            <a:r>
              <a:rPr lang="en-US" sz="5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"CrashLoopBackOff"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summarize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count() 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PodName, Namespace, ContainerStatus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 by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count_ desc</a:t>
            </a:r>
            <a:endParaRPr lang="en-US" sz="550" dirty="0"/>
          </a:p>
        </p:txBody>
      </p:sp>
      <p:sp>
        <p:nvSpPr>
          <p:cNvPr id="21" name="Shape 12"/>
          <p:cNvSpPr/>
          <p:nvPr/>
        </p:nvSpPr>
        <p:spPr>
          <a:xfrm>
            <a:off x="4737171" y="1944830"/>
            <a:ext cx="3963916" cy="650025"/>
          </a:xfrm>
          <a:prstGeom prst="rect">
            <a:avLst/>
          </a:prstGeom>
          <a:solidFill>
            <a:srgbClr val="0078D4">
              <a:alpha val="10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22" name="Text 13"/>
          <p:cNvSpPr/>
          <p:nvPr/>
        </p:nvSpPr>
        <p:spPr>
          <a:xfrm>
            <a:off x="4737171" y="1944830"/>
            <a:ext cx="3963916" cy="650025"/>
          </a:xfrm>
          <a:prstGeom prst="rect">
            <a:avLst/>
          </a:prstGeom>
          <a:noFill/>
          <a:ln/>
        </p:spPr>
        <p:txBody>
          <a:bodyPr wrap="square" lIns="127508" tIns="102108" rIns="127508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Query 2: Track HTTP 5xx Error Spikes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AppRequests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ResultCode &gt;= 500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summarize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ErrorCount = count() 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bin(TimeGenerated, 5m), OperationName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| </a:t>
            </a:r>
            <a:r>
              <a:rPr lang="en-US" sz="550" dirty="0">
                <a:solidFill>
                  <a:srgbClr val="FF5E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</a:t>
            </a:r>
            <a:r>
              <a:rPr lang="en-US" sz="550" dirty="0">
                <a:solidFill>
                  <a:srgbClr val="E2E8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ErrorCount &gt; 10</a:t>
            </a:r>
            <a:endParaRPr lang="en-US" sz="55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913" y="3436674"/>
            <a:ext cx="100013" cy="10001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00075" y="3420601"/>
            <a:ext cx="4857750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Observability ensures we detect and resolve issues before they impact end-users.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420052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Disaster Recovery: Built for Resilience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597253" y="379512"/>
            <a:ext cx="210383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BUSINESS_CONTINUITY // FAILOVER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805458"/>
            <a:ext cx="3716173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RECOVERY OBJECTIVES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42913" y="1166217"/>
            <a:ext cx="871538" cy="290020"/>
          </a:xfrm>
          <a:prstGeom prst="rect">
            <a:avLst/>
          </a:prstGeom>
          <a:noFill/>
          <a:ln/>
        </p:spPr>
        <p:txBody>
          <a:bodyPr wrap="non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METRIC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314450" y="1166217"/>
            <a:ext cx="728663" cy="290020"/>
          </a:xfrm>
          <a:prstGeom prst="rect">
            <a:avLst/>
          </a:prstGeom>
          <a:noFill/>
          <a:ln/>
        </p:spPr>
        <p:txBody>
          <a:bodyPr wrap="none" lIns="8509" tIns="85090" rIns="8509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TARGET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043113" y="1166217"/>
            <a:ext cx="2115973" cy="290020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DESCRIPTION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2913" y="1456237"/>
            <a:ext cx="871538" cy="675084"/>
          </a:xfrm>
          <a:prstGeom prst="rect">
            <a:avLst/>
          </a:prstGeom>
          <a:noFill/>
          <a:ln/>
        </p:spPr>
        <p:txBody>
          <a:bodyPr wrap="none" lIns="8509" tIns="127508" rIns="8509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RTO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314450" y="1456237"/>
            <a:ext cx="728663" cy="675084"/>
          </a:xfrm>
          <a:prstGeom prst="rect">
            <a:avLst/>
          </a:prstGeom>
          <a:noFill/>
          <a:ln/>
        </p:spPr>
        <p:txBody>
          <a:bodyPr wrap="none" lIns="8509" tIns="127508" rIns="8509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5 Mins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050256" y="1581252"/>
            <a:ext cx="13251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Recovery Time Objective: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050256" y="1581252"/>
            <a:ext cx="207347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maximum acceptable duration of downtime before the system is fully restored.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42913" y="2131321"/>
            <a:ext cx="871538" cy="671513"/>
          </a:xfrm>
          <a:prstGeom prst="rect">
            <a:avLst/>
          </a:prstGeom>
          <a:noFill/>
          <a:ln/>
        </p:spPr>
        <p:txBody>
          <a:bodyPr wrap="none" lIns="8509" tIns="127508" rIns="8509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RPO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314450" y="2131321"/>
            <a:ext cx="728663" cy="671513"/>
          </a:xfrm>
          <a:prstGeom prst="rect">
            <a:avLst/>
          </a:prstGeom>
          <a:noFill/>
          <a:ln/>
        </p:spPr>
        <p:txBody>
          <a:bodyPr wrap="none" lIns="8509" tIns="127508" rIns="8509" bIns="127508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 Mins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050256" y="2252765"/>
            <a:ext cx="133409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A0AEC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Recovery Point Objective: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050256" y="2252765"/>
            <a:ext cx="20824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maximum acceptable data loss. Since our apps are stateless, we target zero data loss.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572000" y="805458"/>
            <a:ext cx="412908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FAILOVER SCENARIOS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0" y="1209080"/>
            <a:ext cx="184175" cy="27860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//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4756175" y="1209080"/>
            <a:ext cx="3944913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Pod Failure: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Kubernetes detects a crashed pod, automatically terminates it,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provisions a new replica within seconds.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572000" y="1644848"/>
            <a:ext cx="180994" cy="27860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//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752994" y="1644848"/>
            <a:ext cx="3948094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Node Failure: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AKS detects a physical server failure, automatically shifts pods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healthy nodes, and provisions a new node.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572000" y="2080617"/>
            <a:ext cx="169999" cy="27860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//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741999" y="2080617"/>
            <a:ext cx="3959089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Region Failure: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catastrophic Azure region outage, the DNS is rerouted to </a:t>
            </a:r>
            <a:r>
              <a:rPr lang="en-US" sz="8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secondary cluster provisioned via GitOps manifests.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0063" y="3092155"/>
            <a:ext cx="6557963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Stateless application design combined with GitOps infrastructure-as-code ensures rapid, repeatable recovery.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3041452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Architectural Decisions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936581" y="379512"/>
            <a:ext cx="176450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TRADE_OFFS // ARCHITECTURE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805458"/>
            <a:ext cx="1585913" cy="321469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CHOSEN SOLUTION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028825" y="805458"/>
            <a:ext cx="1585913" cy="321469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ALTERNATIVE CONSIDERED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614738" y="805458"/>
            <a:ext cx="5086350" cy="321469"/>
          </a:xfrm>
          <a:prstGeom prst="rect">
            <a:avLst/>
          </a:prstGeom>
          <a:noFill/>
          <a:ln/>
        </p:spPr>
        <p:txBody>
          <a:bodyPr wrap="square" lIns="8509" tIns="85090" rIns="8509" bIns="85090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ENGINEERING TRADE-OFF &amp; DECISION REASONING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50056" y="1234083"/>
            <a:ext cx="1571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ORCHESTRATION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450056" y="1391245"/>
            <a:ext cx="1571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AKS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2028825" y="1126927"/>
            <a:ext cx="1585913" cy="660797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Self-Managed K8s on VMs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3621881" y="1248370"/>
            <a:ext cx="502205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Self-managed clusters require massive operational overhead for control plane maintenance, patching, and scaling.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016573" y="1398389"/>
            <a:ext cx="199846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AKS abstracts control plane management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621881" y="1398389"/>
            <a:ext cx="4602361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free, allowing the team to focus entirely on application delivery and security.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50056" y="1891308"/>
            <a:ext cx="1571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DEPLOYMENT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450056" y="2048470"/>
            <a:ext cx="1571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ArgoCD (GitOps)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2028825" y="1787723"/>
            <a:ext cx="1585913" cy="657225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DevOps Release Pipelines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3621881" y="1905595"/>
            <a:ext cx="496490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push-based pipelines require cluster admin credentials stored in the CI runner, posing a major security risk.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263033" y="2055614"/>
            <a:ext cx="15859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ArgoCD uses a pull-based model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3621881" y="2055614"/>
            <a:ext cx="485417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running inside the cluster with zero external credential exposure, while automatically healing configuration drift.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450056" y="2548533"/>
            <a:ext cx="1571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CI ENGINE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50056" y="2705695"/>
            <a:ext cx="1571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DevOps Pipelines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2028825" y="2444948"/>
            <a:ext cx="1585913" cy="657225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GitHub Actions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3621881" y="2562820"/>
            <a:ext cx="162698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GitHub Actions is excellent,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248870" y="2562820"/>
            <a:ext cx="284857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Azure DevOps was chosen for native enterprise integration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621881" y="2562820"/>
            <a:ext cx="5009555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Azure Container Registry (ACR) and AKS, providing superior build caching, integrated boards, and seamless service connection management.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50056" y="3205758"/>
            <a:ext cx="1571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SECRETS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50056" y="3362920"/>
            <a:ext cx="1571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Azure Key Vault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2028825" y="3102173"/>
            <a:ext cx="1585913" cy="657225"/>
          </a:xfrm>
          <a:prstGeom prst="rect">
            <a:avLst/>
          </a:prstGeom>
          <a:noFill/>
          <a:ln/>
        </p:spPr>
        <p:txBody>
          <a:bodyPr wrap="square" lIns="8509" tIns="119126" rIns="8509" bIns="119126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Kubernetes Secrets (etcd)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3621881" y="3220045"/>
            <a:ext cx="46737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 Kubernetes secrets are only base64 encoded and stored unencrypted in etcd by default.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21881" y="3220045"/>
            <a:ext cx="496133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Azure Key Vault provides hardware-backed encryption (HSM)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3621881" y="3370064"/>
            <a:ext cx="475059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fine-grained RBAC, and automatic rotation, keeping sensitive credentials completely secure.</a:t>
            </a:r>
            <a:endParaRPr lang="en-US" sz="750" dirty="0"/>
          </a:p>
        </p:txBody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8" y="4064794"/>
            <a:ext cx="125016" cy="100013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196453" y="4048720"/>
            <a:ext cx="759023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Every architectural choice was made to maximize security, minimize operational overhead, and ensure absolute reproducibility.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2662833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Demonstration Plan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665119" y="379512"/>
            <a:ext cx="2035969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SYSTEM_VALIDATION // LIVE_DEMO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442913" y="876895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TRIGGER CHANGE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42913" y="1237655"/>
            <a:ext cx="247743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Commit &amp; Push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make a minor code change to one of our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microservices and push it directly to the GitHub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42913" y="2102048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[EXPECTED]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Azure DevOps immediately triggers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CI pipeline, running all security scans and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compiling the new image.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333285" y="876895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VERIFY GITOPS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333285" y="1237655"/>
            <a:ext cx="247743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ArgoCD Reconciliation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watch the ArgoCD dashboard detect the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commit and automatically synchronize the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AKS cluster.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33285" y="2102048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[EXPECTED]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ArgoCD pulls the updated manifests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performs a rolling update, keeping the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online with zero downtime.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6223657" y="876895"/>
            <a:ext cx="2477430" cy="253603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 //</a:t>
            </a:r>
            <a:r>
              <a:rPr lang="en-US" sz="10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 PROVE HARDENING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23657" y="1237655"/>
            <a:ext cx="2477430" cy="757238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Security Validation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will attempt to run a shell as root inside a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container and attempt unauthorized </a:t>
            </a:r>
            <a:r>
              <a:rPr lang="en-US" sz="80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pod-to-pod communication.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223657" y="2102048"/>
            <a:ext cx="2477430" cy="564356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[EXPECTED]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cluster blocks root execution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(read-only filesystem) and NetworkPolicies drop </a:t>
            </a:r>
            <a:r>
              <a:rPr lang="en-US" sz="75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unauthorized traffic.</a:t>
            </a:r>
            <a:endParaRPr lang="en-US" sz="7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2968228"/>
            <a:ext cx="100013" cy="10001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0075" y="2952155"/>
            <a:ext cx="686157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three-step live demo proves the automation, GitOps reconciliation, and runtime security of our architecture.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2913" y="300038"/>
            <a:ext cx="2970014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Closing: What We Achieved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6868716" y="379512"/>
            <a:ext cx="1832372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PROJECT_SUMMARY // OUTCOMES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3" y="966192"/>
            <a:ext cx="183952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6864" y="948333"/>
            <a:ext cx="4166592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spc="1" kern="0" dirty="0">
                <a:solidFill>
                  <a:srgbClr val="00F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FIVE PILLARS OF OUR CLOUD-NATIVE ARCHITECTURE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42913" y="1493044"/>
            <a:ext cx="148645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PILLAR_01</a:t>
            </a:r>
            <a:endParaRPr lang="en-US" sz="600" dirty="0"/>
          </a:p>
        </p:txBody>
      </p:sp>
      <p:sp>
        <p:nvSpPr>
          <p:cNvPr id="8" name="Text 4"/>
          <p:cNvSpPr/>
          <p:nvPr/>
        </p:nvSpPr>
        <p:spPr>
          <a:xfrm>
            <a:off x="500063" y="1641277"/>
            <a:ext cx="5304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42913" y="1912739"/>
            <a:ext cx="1486458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Shift-Left &amp; Hardened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Four automated pipeline gates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vulnerabilities. Pods run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non-root with zero-trust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policies.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2135842" y="1493044"/>
            <a:ext cx="148645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PILLAR_02</a:t>
            </a:r>
            <a:endParaRPr lang="en-US" sz="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842" y="1666280"/>
            <a:ext cx="142875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335867" y="1641277"/>
            <a:ext cx="725091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135842" y="1912739"/>
            <a:ext cx="1486458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Zero Manual Steps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Fully automated CI/CD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build, scan, package,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deploy code changes in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5 minutes.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3828771" y="1493044"/>
            <a:ext cx="148645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PILLAR_03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3885921" y="1641277"/>
            <a:ext cx="41612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GitOps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828771" y="1912739"/>
            <a:ext cx="1486458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Git Source of Truth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ArgoCD continuously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reconciles cluster state with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Git, auto-healing any manual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drifts.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5521700" y="1493044"/>
            <a:ext cx="148645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PILLAR_04</a:t>
            </a:r>
            <a:endParaRPr lang="en-US" sz="6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1700" y="1666280"/>
            <a:ext cx="114300" cy="1143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93150" y="1641277"/>
            <a:ext cx="828675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521700" y="1912739"/>
            <a:ext cx="1486458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Proactive Telemetry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Six automated alerts and nine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KQL queries monitor cluster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health, memory leaks, and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traffic spikes.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7214629" y="1493044"/>
            <a:ext cx="1486458" cy="112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F0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PILLAR_05</a:t>
            </a:r>
            <a:endParaRPr lang="en-US" sz="6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29" y="1666280"/>
            <a:ext cx="128588" cy="1143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00367" y="1641277"/>
            <a:ext cx="63043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Resilience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7214629" y="1912739"/>
            <a:ext cx="1486458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High Availability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Multi-replica deployments with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strict resource limits and a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disaster recovery </a:t>
            </a:r>
            <a:r>
              <a:rPr lang="en-US" sz="750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runbook.</a:t>
            </a:r>
            <a:endParaRPr lang="en-US" sz="7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2913" y="3186113"/>
            <a:ext cx="100013" cy="10001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0075" y="3170039"/>
            <a:ext cx="7286625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9A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This architecture establishes a secure, robust, and highly scalable foundation for enterprise cloud-native applications.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2026-05-27T23:55:52Z</dcterms:created>
  <dcterms:modified xsi:type="dcterms:W3CDTF">2026-05-27T23:55:52Z</dcterms:modified>
</cp:coreProperties>
</file>